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Legal AI Judiciary: An End-to-End System for Case Analysis and Precedent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Review 1 - Capstone Project</a:t>
            </a:r>
          </a:p>
          <a:p>
            <a:r>
              <a:t>Team Members: [Your Names]</a:t>
            </a:r>
          </a:p>
          <a:p>
            <a:r>
              <a:t>Project Guide: [Guide Name]</a:t>
            </a:r>
          </a:p>
          <a:p>
            <a:r>
              <a:t>Domain: AI /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The Problem: The Indian judicial system suffers from a massive backlog of cases. Legal practitioners spend hundreds of hours manually reviewing unstructured legal documents.</a:t>
            </a:r>
          </a:p>
          <a:p>
            <a:pPr/>
            <a:r>
              <a:t>Current Limitations: Existing systems rely on basic keyword matching which fails to capture semantic meaning. Standard AI models struggle to identify strict boundaries of complex Indian legal entities.</a:t>
            </a:r>
          </a:p>
          <a:p>
            <a:pPr/>
            <a:r>
              <a:t>The Need: An automated, domain-specific AI system that can semantically search for case similarities and accurately extract legal metadata.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Develop a Hybrid NER Pipeline: Build a Named Entity Recognition model combining InLegalBERT with a BiLSTM-CRF layer.</a:t>
            </a:r>
          </a:p>
          <a:p>
            <a:pPr/>
            <a:r>
              <a:t>2. Build a Semantic Case Retrieval Engine: Chunk unstructured judgments and utilize Sentence-Transformers for hierarchical similarity search.</a:t>
            </a:r>
          </a:p>
          <a:p>
            <a:pPr/>
            <a:r>
              <a:t>3. Deploy an End-to-End Platform: Transition from isolated scripts to a production-ready application (FastAPI + React).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InLegalBERT (Kalamkar et al., 2022): Pre-trained on Indian court cases; outperforms generic BERT models on legal tasks.</a:t>
            </a:r>
          </a:p>
          <a:p>
            <a:pPr/>
            <a:r>
              <a:t>ILDC Corpus (Malik et al., 2021): Highlighted the extreme length and complexity of Indian judgments, justifying the need for hierarchical processing.</a:t>
            </a:r>
          </a:p>
          <a:p>
            <a:pPr/>
            <a:r>
              <a:t>Legal NER (LegalEval 2023): Demonstrated that hybrid architectures handle the nested, complex dependencies of Indian legal phrasing.</a:t>
            </a:r>
          </a:p>
          <a:p>
            <a:pPr/>
            <a:r>
              <a:t>Dense Embeddings (LePaRD, 2023): Proved that Sentence-Transformers map legal passages into dense vector spaces for accurate retrieval.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Boundary-Aware Extraction: Standard InLegalBERT classifiers fail at strict boundary detection. A BiLSTM-CRF decoding layer is required but highly under-explored.</a:t>
            </a:r>
          </a:p>
          <a:p>
            <a:pPr/>
            <a:r>
              <a:t>2. Monolithic Document Processing: Current precedent retrieval systems compare entire cases at once without granular case/sub-case detection before computing similarity.</a:t>
            </a:r>
          </a:p>
          <a:p>
            <a:pPr/>
            <a:r>
              <a:t>3. Absence of Production Pipelines: Most research exists as fragmented academic scripts. There is a severe lack of open-source, full-stack reference architectures.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Architecture &amp;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Data Ingestion Layer:</a:t>
            </a:r>
          </a:p>
          <a:p>
            <a:pPr lvl="1"/>
            <a:r>
              <a:t>PDF Upload &amp; OCR Text Extraction</a:t>
            </a:r>
          </a:p>
          <a:p>
            <a:pPr lvl="1"/>
            <a:r>
              <a:t>Structural Chunking (Summary, Facts, Judgment)</a:t>
            </a:r>
          </a:p>
          <a:p>
            <a:pPr/>
            <a:r>
              <a:t>2. AI Processing Layer:</a:t>
            </a:r>
          </a:p>
          <a:p>
            <a:pPr lvl="1"/>
            <a:r>
              <a:t>Hybrid NER: Text -&gt; InLegalBERT -&gt; BiLSTM -&gt; CRF</a:t>
            </a:r>
          </a:p>
          <a:p>
            <a:pPr lvl="1"/>
            <a:r>
              <a:t>Similarity Engine: Chunked Text -&gt; Sentence-Transformers</a:t>
            </a:r>
          </a:p>
          <a:p>
            <a:pPr/>
            <a:r>
              <a:t>3. Application Layer:</a:t>
            </a:r>
          </a:p>
          <a:p>
            <a:pPr lvl="1"/>
            <a:r>
              <a:t>Database: MongoDB &amp; embeddings.npy</a:t>
            </a:r>
          </a:p>
          <a:p>
            <a:pPr lvl="1"/>
            <a:r>
              <a:t>Backend: FastAPI (Python)</a:t>
            </a:r>
          </a:p>
          <a:p>
            <a:pPr lvl="1"/>
            <a:r>
              <a:t>Frontend: React (Vite)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Data Preparation: Download and preprocess authentic Indian datasets (OpenNyAI NER corpus and 7,875 real Indian Court Judgments).</a:t>
            </a:r>
          </a:p>
          <a:p>
            <a:pPr/>
            <a:r>
              <a:t>2. Model Training: Train the Hybrid NER model utilizing PyTorch. Optimize BiLSTM hidden states and CRF transition matrices.</a:t>
            </a:r>
          </a:p>
          <a:p>
            <a:pPr/>
            <a:r>
              <a:t>3. Vectorization: Compute cosine similarity on Sentence-Transformer embeddings for precedent retrieval.</a:t>
            </a:r>
          </a:p>
          <a:p>
            <a:pPr/>
            <a:r>
              <a:t>4. System Integration: Connect trained models and vector databases to FastAPI endpoints.</a:t>
            </a:r>
          </a:p>
          <a:p>
            <a:pPr/>
            <a:r>
              <a:t>5. Validation: Test semantic search accuracy and NER boundary precision.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AI/ML Technologies: PyTorch, Hugging Face Transformers, TorchCRF, Sentence-Transformers</a:t>
            </a:r>
          </a:p>
          <a:p>
            <a:pPr/>
            <a:r>
              <a:t>Backend &amp; Frontend: Python, FastAPI, React, Node.js, Vite</a:t>
            </a:r>
          </a:p>
          <a:p>
            <a:pPr/>
            <a:r>
              <a:t>Database: MongoDB, FAISS/NumPy for vectors</a:t>
            </a:r>
          </a:p>
          <a:p>
            <a:pPr/>
            <a:r>
              <a:t>Datasets (Indian Context):</a:t>
            </a:r>
          </a:p>
          <a:p>
            <a:pPr lvl="1"/>
            <a:r>
              <a:t>OpenNyAI InLegalNER Dataset: 15,000+ examples for training the Hybrid NER.</a:t>
            </a:r>
          </a:p>
          <a:p>
            <a:pPr lvl="1"/>
            <a:r>
              <a:t>Joel Niklaus / Indian Legal Cases: 7,875 real, structured Indian court judgments.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Plan (7th &amp; 8th Semesters)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Review 1 (Sept 2026): Finalized problem, literature review, architecture, and 20% implementation (Backend API setup, Indian datasets).</a:t>
            </a:r>
          </a:p>
          <a:p>
            <a:pPr/>
            <a:r>
              <a:t>Review 2 (Oct 2026): 60% implementation; Hybrid NER model fully trained and integrated into the pipeline.</a:t>
            </a:r>
          </a:p>
          <a:p>
            <a:pPr/>
            <a:r>
              <a:t>Review 3 (Oct 2026): 100% Phase 1 completion; End-to-end working system and paper drafted.</a:t>
            </a:r>
          </a:p>
          <a:p>
            <a:pPr/>
            <a:r>
              <a:t>Review 4 &amp; 5 (8th Sem): Advanced Version enhancements, final validation, and comparative performance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20% Implementation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The Backend Server: FastAPI server running with active endpoints.</a:t>
            </a:r>
          </a:p>
          <a:p>
            <a:pPr/>
            <a:r>
              <a:t>2. The New Datasets: The database containing the 7,875 real Indian judgments.</a:t>
            </a:r>
          </a:p>
          <a:p>
            <a:pPr/>
            <a:r>
              <a:t>3. The Similarity Engine: Successful generation of 384-dimensional dense vectors (embeddings.npy) for semantic search.</a:t>
            </a:r>
          </a:p>
          <a:p>
            <a:pPr/>
            <a:r>
              <a:t>4. The Training Pipeline: The Hybrid NER training process active on the OpenNyAI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